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640e2d4c224837" /><Relationship Type="http://schemas.openxmlformats.org/officeDocument/2006/relationships/extended-properties" Target="/docProps/app.xml" Id="Re711289fa81e4a84" /><Relationship Type="http://schemas.openxmlformats.org/officeDocument/2006/relationships/officeDocument" Target="/ppt/presentation.xml" Id="R5c21a202d3744d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38abebc197485f"/>
  </p:sldMasterIdLst>
  <p:notesMasterIdLst>
    <p:notesMasterId xmlns:r="http://schemas.openxmlformats.org/officeDocument/2006/relationships" r:id="R5e60e106f9b0413d"/>
  </p:notesMasterIdLst>
  <p:sldIdLst>
    <p:sldId xmlns:r="http://schemas.openxmlformats.org/officeDocument/2006/relationships" id="256" r:id="R2790797848de4a44"/>
    <p:sldId xmlns:r="http://schemas.openxmlformats.org/officeDocument/2006/relationships" id="257" r:id="R3a6b7b22dca04c9e"/>
    <p:sldId xmlns:r="http://schemas.openxmlformats.org/officeDocument/2006/relationships" id="258" r:id="R8ecd20c0958249c6"/>
    <p:sldId xmlns:r="http://schemas.openxmlformats.org/officeDocument/2006/relationships" id="259" r:id="Rfd062d48d1554316"/>
    <p:sldId xmlns:r="http://schemas.openxmlformats.org/officeDocument/2006/relationships" id="260" r:id="R0d9546ec8fa44ee1"/>
    <p:sldId xmlns:r="http://schemas.openxmlformats.org/officeDocument/2006/relationships" id="261" r:id="Rb79615b1265c454d"/>
    <p:sldId xmlns:r="http://schemas.openxmlformats.org/officeDocument/2006/relationships" id="262" r:id="R1ccb41ca3c6d4564"/>
    <p:sldId xmlns:r="http://schemas.openxmlformats.org/officeDocument/2006/relationships" id="263" r:id="Rbc7007d75cfa43c3"/>
    <p:sldId xmlns:r="http://schemas.openxmlformats.org/officeDocument/2006/relationships" id="264" r:id="Rc8e2afcf052b4868"/>
    <p:sldId xmlns:r="http://schemas.openxmlformats.org/officeDocument/2006/relationships" id="265" r:id="Rac00246cd80944af"/>
    <p:sldId xmlns:r="http://schemas.openxmlformats.org/officeDocument/2006/relationships" id="266" r:id="R4f79303a019c4a07"/>
    <p:sldId xmlns:r="http://schemas.openxmlformats.org/officeDocument/2006/relationships" id="267" r:id="R2c15fe4f3e7c45d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38abebc197485f" /><Relationship Type="http://schemas.openxmlformats.org/officeDocument/2006/relationships/theme" Target="/ppt/theme/theme1.xml" Id="Rf5e0a4715abb483c" /><Relationship Type="http://schemas.openxmlformats.org/officeDocument/2006/relationships/notesMaster" Target="/ppt/notesMasters/notesMaster1.xml" Id="R5e60e106f9b0413d" /><Relationship Type="http://schemas.openxmlformats.org/officeDocument/2006/relationships/presProps" Target="/ppt/presProps.xml" Id="Rc46a116a5ffa4b81" /><Relationship Type="http://schemas.openxmlformats.org/officeDocument/2006/relationships/viewProps" Target="/ppt/viewProps.xml" Id="R1c005586a195424d" /><Relationship Type="http://schemas.openxmlformats.org/officeDocument/2006/relationships/tableStyles" Target="/ppt/tableStyles.xml" Id="Rcb58e9161a684b93" /><Relationship Type="http://schemas.openxmlformats.org/officeDocument/2006/relationships/slide" Target="/ppt/slides/slide1.xml" Id="R2790797848de4a44" /><Relationship Type="http://schemas.openxmlformats.org/officeDocument/2006/relationships/slide" Target="/ppt/slides/slide2.xml" Id="R3a6b7b22dca04c9e" /><Relationship Type="http://schemas.openxmlformats.org/officeDocument/2006/relationships/slide" Target="/ppt/slides/slide3.xml" Id="R8ecd20c0958249c6" /><Relationship Type="http://schemas.openxmlformats.org/officeDocument/2006/relationships/slide" Target="/ppt/slides/slide4.xml" Id="Rfd062d48d1554316" /><Relationship Type="http://schemas.openxmlformats.org/officeDocument/2006/relationships/slide" Target="/ppt/slides/slide5.xml" Id="R0d9546ec8fa44ee1" /><Relationship Type="http://schemas.openxmlformats.org/officeDocument/2006/relationships/slide" Target="/ppt/slides/slide6.xml" Id="Rb79615b1265c454d" /><Relationship Type="http://schemas.openxmlformats.org/officeDocument/2006/relationships/slide" Target="/ppt/slides/slide7.xml" Id="R1ccb41ca3c6d4564" /><Relationship Type="http://schemas.openxmlformats.org/officeDocument/2006/relationships/slide" Target="/ppt/slides/slide8.xml" Id="Rbc7007d75cfa43c3" /><Relationship Type="http://schemas.openxmlformats.org/officeDocument/2006/relationships/slide" Target="/ppt/slides/slide9.xml" Id="Rc8e2afcf052b4868" /><Relationship Type="http://schemas.openxmlformats.org/officeDocument/2006/relationships/slide" Target="/ppt/slides/slide10.xml" Id="Rac00246cd80944af" /><Relationship Type="http://schemas.openxmlformats.org/officeDocument/2006/relationships/slide" Target="/ppt/slides/slide11.xml" Id="R4f79303a019c4a07" /><Relationship Type="http://schemas.openxmlformats.org/officeDocument/2006/relationships/slide" Target="/ppt/slides/slide12.xml" Id="R2c15fe4f3e7c45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cabf78920b740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5c13064e144fba" /><Relationship Type="http://schemas.openxmlformats.org/officeDocument/2006/relationships/notesMaster" Target="/ppt/notesMasters/notesMaster1.xml" Id="R70530aa5383246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d9b1dd422043c6" /><Relationship Type="http://schemas.openxmlformats.org/officeDocument/2006/relationships/notesMaster" Target="/ppt/notesMasters/notesMaster1.xml" Id="R33714d8004674d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2c3099779c4ccd" /><Relationship Type="http://schemas.openxmlformats.org/officeDocument/2006/relationships/notesMaster" Target="/ppt/notesMasters/notesMaster1.xml" Id="R80a4475777e945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7a9228e1ee46c0" /><Relationship Type="http://schemas.openxmlformats.org/officeDocument/2006/relationships/notesMaster" Target="/ppt/notesMasters/notesMaster1.xml" Id="R374b02a766394a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13175a7e824adc" /><Relationship Type="http://schemas.openxmlformats.org/officeDocument/2006/relationships/notesMaster" Target="/ppt/notesMasters/notesMaster1.xml" Id="Rc75b27eb164c40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e95d2d5e0a4e43" /><Relationship Type="http://schemas.openxmlformats.org/officeDocument/2006/relationships/notesMaster" Target="/ppt/notesMasters/notesMaster1.xml" Id="Re100fb33ce2346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fc1c59e89041de" /><Relationship Type="http://schemas.openxmlformats.org/officeDocument/2006/relationships/notesMaster" Target="/ppt/notesMasters/notesMaster1.xml" Id="R33e157d803a243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6339bfc74d4c1b" /><Relationship Type="http://schemas.openxmlformats.org/officeDocument/2006/relationships/notesMaster" Target="/ppt/notesMasters/notesMaster1.xml" Id="R87047c6a9629472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db9dc4674c4bef" /><Relationship Type="http://schemas.openxmlformats.org/officeDocument/2006/relationships/notesMaster" Target="/ppt/notesMasters/notesMaster1.xml" Id="Rc322c4483eb445b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0dac549d794ab3" /><Relationship Type="http://schemas.openxmlformats.org/officeDocument/2006/relationships/notesMaster" Target="/ppt/notesMasters/notesMaster1.xml" Id="R0e130642aa3c49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231aa5cd6ad4899" /><Relationship Type="http://schemas.openxmlformats.org/officeDocument/2006/relationships/notesMaster" Target="/ppt/notesMasters/notesMaster1.xml" Id="R3fe6fdf3f0b04e7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2c9c403c13f45c4" /><Relationship Type="http://schemas.openxmlformats.org/officeDocument/2006/relationships/notesMaster" Target="/ppt/notesMasters/notesMaster1.xml" Id="R6a3d0d9bbe9c42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f131072468490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efe7aefd7f240f7" /><Relationship Type="http://schemas.openxmlformats.org/officeDocument/2006/relationships/slideLayout" Target="/ppt/slideLayouts/slideLayout2.xml" Id="R57506a0c1de348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506a0c1de348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d51750cb344be1" /><Relationship Type="http://schemas.openxmlformats.org/officeDocument/2006/relationships/image" Target="/ppt/media/image.png" Id="R62a1783fb74e4923" /><Relationship Type="http://schemas.openxmlformats.org/officeDocument/2006/relationships/notesSlide" Target="/ppt/notesSlides/notesSlide1.xml" Id="Rc596894b8bf148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5d5dddbd02488d" /><Relationship Type="http://schemas.openxmlformats.org/officeDocument/2006/relationships/notesSlide" Target="/ppt/notesSlides/notesSlide2.xml" Id="R5ea38cf66eb444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0eb8c4d94e4f9b" /><Relationship Type="http://schemas.openxmlformats.org/officeDocument/2006/relationships/notesSlide" Target="/ppt/notesSlides/notesSlide3.xml" Id="R1d3c2251074c47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4ebde714654012" /><Relationship Type="http://schemas.openxmlformats.org/officeDocument/2006/relationships/notesSlide" Target="/ppt/notesSlides/notesSlide4.xml" Id="R43f561a8a9c941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893c8deee24aa4" /><Relationship Type="http://schemas.openxmlformats.org/officeDocument/2006/relationships/notesSlide" Target="/ppt/notesSlides/notesSlide5.xml" Id="R992770fd4fc34d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03345468024cd8" /><Relationship Type="http://schemas.openxmlformats.org/officeDocument/2006/relationships/notesSlide" Target="/ppt/notesSlides/notesSlide6.xml" Id="R4ba28683b1a44a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71e6d75e2b467a" /><Relationship Type="http://schemas.openxmlformats.org/officeDocument/2006/relationships/notesSlide" Target="/ppt/notesSlides/notesSlide7.xml" Id="R01773685458143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17519817d04b9f" /><Relationship Type="http://schemas.openxmlformats.org/officeDocument/2006/relationships/notesSlide" Target="/ppt/notesSlides/notesSlide8.xml" Id="R6580a2f7b0c947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12eb6dd6dd4d7c" /><Relationship Type="http://schemas.openxmlformats.org/officeDocument/2006/relationships/notesSlide" Target="/ppt/notesSlides/notesSlide9.xml" Id="R69b7ecd35b9e45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26173acbe54a2e" /><Relationship Type="http://schemas.openxmlformats.org/officeDocument/2006/relationships/notesSlide" Target="/ppt/notesSlides/notesSlide10.xml" Id="Rfd3217813f184a4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0fe2692efc48ee" /><Relationship Type="http://schemas.openxmlformats.org/officeDocument/2006/relationships/notesSlide" Target="/ppt/notesSlides/notesSlide11.xml" Id="R7a8a87c9fdd44a4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5f7f213f0945d6" /><Relationship Type="http://schemas.openxmlformats.org/officeDocument/2006/relationships/notesSlide" Target="/ppt/notesSlides/notesSlide12.xml" Id="R2de0bc2708324c9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62A8F6-CFC2-4E73-BBE3-3E3A2D2F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a1783fb74e4923"/>
          <a:srcRect xmlns:a="http://schemas.openxmlformats.org/drawingml/2006/main" l="30068" t="0" r="300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0"/>
            <a:ext cx="485775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FA1AF8-C1BC-41EA-A645-9BCBA6D7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81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8CDBE7-CA88-4170-ACE1-A63F74E2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114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9">
              <a:alpha val="8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A44C26-A20E-46E6-BEB7-32FF11C4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8C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8C86"/>
                </a:solidFill>
                <a:latin typeface="Aptos"/>
                <a:ea typeface="Aptos"/>
                <a:cs typeface="Aptos"/>
              </a:rPr>
              <a:t>FINAL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0B19BE-EEDE-428E-83E4-EC1DDE82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590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K-Privacy Filter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7084F4-2907-4A28-A833-FF4F993C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619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한국형 개인정보 필터 최종 구현과 평가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746D86-52E1-4164-AFE0-A4D03EDA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581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OPF의 범용 탐지력에 한국형 Regex Safety Net과 문맥 기반 오탐 억제를 결합해, 라이브 데모가 가능한 개인정보 마스킹 시스템을 완성했습니다.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CC5177-7D7A-431F-9428-ADE42B11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5886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45C5FE-7EE0-4F62-A4A2-0F60A317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357A6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2357A6"/>
                </a:solidFill>
                <a:latin typeface="Aptos Display"/>
                <a:ea typeface="Aptos Display"/>
                <a:cs typeface="Aptos Display"/>
              </a:rPr>
              <a:t>0.6919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C77DC6-76E4-4626-9BC9-01DE8A1D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4817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Eval300 F1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6F0241-7400-4414-BAB6-609918C3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57725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보수적 최종 replay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B1D52C-12C7-4E04-AAA9-72458FA7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195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F7D4E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2F7D4E"/>
                </a:solidFill>
                <a:latin typeface="Aptos Display"/>
                <a:ea typeface="Aptos Display"/>
                <a:cs typeface="Aptos Display"/>
              </a:rPr>
              <a:t>0.0000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E2143C-7C9C-4927-B247-EAB691FF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44817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Hard-neg FPR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5D31B8-4FBD-4EF0-8199-E3AB9301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657725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고정 100개 샘플 기준</a:t>
            </a:r>
          </a:p>
          <a:p xmlns:a="http://schemas.openxmlformats.org/drawingml/2006/main">
            <a:pPr algn="ctr">
              <a:defRPr sz="6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전체 FPR 0 아님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999D86-1E14-4FE3-827E-0638D20C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195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58C86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58C86"/>
                </a:solidFill>
                <a:latin typeface="Aptos Display"/>
                <a:ea typeface="Aptos Display"/>
                <a:cs typeface="Aptos Display"/>
              </a:rPr>
              <a:t>0.9000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0832FE-5079-4FC8-9CE4-5AC503AE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4817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Adversarial F1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AA9169-47F6-4154-8BAB-F624979B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57725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우회형 10개 샘플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602C36-CBD0-4E65-A846-6BC7B4A2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49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491"/>
                </a:solidFill>
                <a:latin typeface="Aptos"/>
                <a:ea typeface="Aptos"/>
                <a:cs typeface="Aptos"/>
              </a:rPr>
              <a:t>2026-05-29 | Google Colab + Drive artifacts + local Git repository</a:t>
            </a:r>
          </a:p>
        </p:txBody>
      </p:sp>
    </p:spTree>
    <p:extLst>
      <p:ext uri="{BB962C8B-B14F-4D97-AF65-F5344CB8AC3E}">
        <p14:creationId xmlns:p14="http://schemas.microsoft.com/office/powerpoint/2010/main" val="6206409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DB9D21-2097-4C3D-9BE3-8579DF34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A3E447-C34F-4D01-B737-BA3BC31D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8C8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58C86"/>
                </a:solidFill>
                <a:latin typeface="Malgun Gothic"/>
                <a:ea typeface="Malgun Gothic"/>
                <a:cs typeface="Malgun Gothic"/>
              </a:rPr>
              <a:t>오늘의 주장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F5613B-BC10-466D-8092-88CE7C48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933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평가 기준에 맞춘 핵심 메시지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B46C5A-8415-449F-9855-F941CD7B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971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이전 발표 내용은 줄이고, 최종 구현체와 검증 결과 중심으로 압축합니다.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71945C-DA20-4311-AC3A-B18500F3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2238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AA8E9C-5443-496E-B6BA-F503E5D3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F0"/>
          </a:solidFill>
          <a:ln xmlns:a="http://schemas.openxmlformats.org/drawingml/2006/main" w="9525">
            <a:solidFill>
              <a:srgbClr val="E2F2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9D2031-5A74-4ECF-8E0B-A1E8B4E4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Creativity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59E576-AA10-4602-BD86-35171D5F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479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30D756-BE30-44D4-A58D-6549AD46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781300"/>
            <a:ext cx="16478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한국어 주소, 주민번호, 계좌, API key 등 국내형 PII를 별도 안전망으로 보강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D61DCD-08E3-4016-87A8-C85A4849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05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D2DC34-2913-41E3-BC6A-D890A15B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638550"/>
            <a:ext cx="16478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보안 문제를 생성형 AI 사용 흐름과 연결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512AAE-7EED-480B-A5FF-3BEC24E1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76450"/>
            <a:ext cx="2238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26518E-7661-484D-A89B-3C0B760E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2669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8"/>
          </a:solidFill>
          <a:ln xmlns:a="http://schemas.openxmlformats.org/drawingml/2006/main" w="9525">
            <a:solidFill>
              <a:srgbClr val="E8EEF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DF839F-1E08-4040-82C7-CB0C1DA1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3241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Completeness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A60C27-AC9F-4B85-BA2A-EA26707E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8479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50FA0D-2D5D-46D2-96BE-0898BF40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81300"/>
            <a:ext cx="16478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Colab에서 실제 OPF 추론, Regex 병합, Gradio 시연, 평가 파일 저장까지 완료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A254B7-DE68-40C8-A603-7E6947C4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705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F98591-1BC0-465E-8A8B-9531F1AC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638550"/>
            <a:ext cx="16478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hard-negative와 adversarial 평가로 과장 방지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A78349-0C75-4699-A3B3-64C728CA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2238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184661-7A0C-4310-BA1D-332084A7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EA"/>
          </a:solidFill>
          <a:ln xmlns:a="http://schemas.openxmlformats.org/drawingml/2006/main" w="9525">
            <a:solidFill>
              <a:srgbClr val="E8F2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96CACC-82AB-4BEF-B0AD-607774F5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241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AI-Collaboration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73CEB7-1928-446E-97D0-B125963A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479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5221E2-0A1F-4109-B27C-BDE55C69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781300"/>
            <a:ext cx="16478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AI에게 실험 설계, 코드 수정, 오류 분석, PPT 작성까지 단계적으로 디렉팅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AE5452-236A-4754-8B79-69C96DE1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05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700C6C-EF1A-4574-A934-8D1B8DEA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638550"/>
            <a:ext cx="16478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fine-tuning 실패와 성공 모두 근거로 남김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53F728-3B74-4363-AB0F-7CB1569B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76450"/>
            <a:ext cx="2238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E61CFD-59D1-4EF1-886C-ED2773B8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2669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DC"/>
          </a:solidFill>
          <a:ln xmlns:a="http://schemas.openxmlformats.org/drawingml/2006/main" w="9525">
            <a:solidFill>
              <a:srgbClr val="F7EE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5EBF13-BB96-49D8-81E2-7448B54F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3241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Professionalism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DC3BFD-B894-4E44-9F6E-FAD22A0B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8479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927B29-43CC-469E-AB38-93A65374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81300"/>
            <a:ext cx="16478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실제 동작 시연, 숫자의 범위 설명, 한계 인정, 다음 개선 과제 제시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78F27D-529A-4DCF-982D-4CE0EEA0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705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4350BC-0554-4AC4-A989-D8032362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38550"/>
            <a:ext cx="16478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질의응답에서 방어 가능한 메시지로 구성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9BE143-FFB1-4DD3-833C-AD7FEB87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19750"/>
            <a:ext cx="10553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ECD7D6-A311-441F-8B3B-F806D9FC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53100"/>
            <a:ext cx="1005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한 줄 결론: 최종 배포 후보는 fine-tuned 단독 모델이 아니라, 실전 오탐을 줄인 Hybrid KPF입니다.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D08A71-E492-41B6-B017-7FD2A49E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491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7A8491"/>
                </a:solidFill>
                <a:latin typeface="Malgun Gothic"/>
                <a:ea typeface="Malgun Gothic"/>
                <a:cs typeface="Malgun Gothic"/>
              </a:rPr>
              <a:t>K-Privacy Filter 최종 발표 | 2/12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8B7DA2-8F5A-450B-9A01-305E702A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515100"/>
            <a:ext cx="432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49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A8491"/>
                </a:solidFill>
                <a:latin typeface="Aptos"/>
                <a:ea typeface="Aptos"/>
                <a:cs typeface="Aptos"/>
              </a:rPr>
              <a:t>Evidence: repository, Colab runs, Drive artifacts, 2026-05-29</a:t>
            </a:r>
          </a:p>
        </p:txBody>
      </p:sp>
    </p:spTree>
    <p:extLst>
      <p:ext uri="{BB962C8B-B14F-4D97-AF65-F5344CB8AC3E}">
        <p14:creationId xmlns:p14="http://schemas.microsoft.com/office/powerpoint/2010/main" val="45864572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BC5136-CA55-4079-ADB0-9FAC8F2A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3CB2D9-1557-48F6-AE9E-A47B4916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8C8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58C86"/>
                </a:solidFill>
                <a:latin typeface="Malgun Gothic"/>
                <a:ea typeface="Malgun Gothic"/>
                <a:cs typeface="Malgun Gothic"/>
              </a:rPr>
              <a:t>문제 정의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8C1947-04E6-417E-848B-D1E5C66C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933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한국어 개인정보는 범용 필터만으로는 놓치거나 과하게 잡힙니다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CE62BD-ADB8-45E6-8AD8-0A496DCF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971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주소, 계좌, 주민번호, 비밀번호, API key가 채팅과 로그에 섞이면 보안 사고로 바로 이어질 수 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124874-E3A1-4168-B0C6-87D27831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4953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49E9BA-C4A2-45EA-9D29-F60EB458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입력 예시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1E3D5B-A5A9-4688-A23F-9FEAF0CC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4286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주소는 경기도 화성시 동탄역로 150 102동 3804호야.</a:t>
            </a:r>
          </a:p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내 이름은 최호준이고, api 키는 sk-... 이야.</a:t>
            </a:r>
          </a:p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아이디는 chjspd고, 비밀번호는 chIghwns1011!@!이야.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105504-442E-4BFB-8551-6FB15BBB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8AF27A-4FB0-4C46-9D1F-E744ABE9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947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B94747"/>
                </a:solidFill>
                <a:latin typeface="Malgun Gothic"/>
                <a:ea typeface="Malgun Gothic"/>
                <a:cs typeface="Malgun Gothic"/>
              </a:rPr>
              <a:t>보안 관점의 위험: 사용자가 무심코 입력한 민감 정보가 LLM 요청, 로그, 화면 공유, 저장소에 남을 수 있음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DB3EDC-A2E5-4B02-BE76-9DCCDB68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5334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E1AF97-94B0-4889-AF27-048BF6A7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왜 한국형 보강이 필요한가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AEFF5D-3C57-4B1F-859F-115BF29F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908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DCA11A-7DEC-4604-AB7A-3261958F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724150"/>
            <a:ext cx="4333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한국 주소는 행정구역, 도로명, 동/호수, 조사까지 붙어 경계가 복잡함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685222-2A17-4816-BFD1-E822FB40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575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76C77F-AD5D-4E20-9218-C3362EFE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390900"/>
            <a:ext cx="4333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전화번호와 계좌번호는 숫자 패턴이 비슷해 라벨 혼동이 잦음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ED34CC-DBA2-42D7-852B-34E92FFD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243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CE5FD1-C884-47E5-A47D-354FD3B5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057650"/>
            <a:ext cx="4333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예시값, 상품코드, 모델명은 개인정보처럼 보이지만 masking하면 오탐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905CB3-9FA6-4B81-AD12-229D5011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491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7A8491"/>
                </a:solidFill>
                <a:latin typeface="Malgun Gothic"/>
                <a:ea typeface="Malgun Gothic"/>
                <a:cs typeface="Malgun Gothic"/>
              </a:rPr>
              <a:t>K-Privacy Filter 최종 발표 | 3/12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2983CC-6A67-4451-AC68-A6D21743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515100"/>
            <a:ext cx="432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49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A8491"/>
                </a:solidFill>
                <a:latin typeface="Aptos"/>
                <a:ea typeface="Aptos"/>
                <a:cs typeface="Aptos"/>
              </a:rPr>
              <a:t>Evidence: repository, Colab runs, Drive artifacts, 2026-05-29</a:t>
            </a:r>
          </a:p>
        </p:txBody>
      </p:sp>
    </p:spTree>
    <p:extLst>
      <p:ext uri="{BB962C8B-B14F-4D97-AF65-F5344CB8AC3E}">
        <p14:creationId xmlns:p14="http://schemas.microsoft.com/office/powerpoint/2010/main" val="93781044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FD9E64-4A6E-4164-8B6C-024CC502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E1CB14-6321-451D-B9AE-0BAB180D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8C8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58C86"/>
                </a:solidFill>
                <a:latin typeface="Malgun Gothic"/>
                <a:ea typeface="Malgun Gothic"/>
                <a:cs typeface="Malgun Gothic"/>
              </a:rPr>
              <a:t>최종 시스템 아키텍처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3CA5C2-B80C-4CBA-8B02-609AE515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933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OPF + Korean Regex Safety Net + 문맥 오탐 억제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36D179-DEB3-42E5-A70B-853B0DEB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971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모델 하나에 모든 책임을 맡기지 않고, 규칙과 문맥 필터를 결합한 방어적 구조를 선택했습니다.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C6F6F2-2B36-46A7-9785-0DF39ED6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171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8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E95252-005A-4755-B2D8-9C619DDA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0775"/>
            <a:ext cx="1447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1.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75B6A9-AED3-4A10-BEE9-7D714FED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채팅/로그/문서 텍스트</a:t>
            </a:r>
          </a:p>
          <a:p xmlns:a="http://schemas.openxmlformats.org/drawingml/2006/main">
            <a:pPr algn="l">
              <a:defRPr sz="788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한국어와 코드형 secret 혼재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A3F6AE-FF3A-4B57-AEBE-C7404DEC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266950"/>
            <a:ext cx="171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FE7F18-CB7A-4946-ACD1-29BD491F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90775"/>
            <a:ext cx="1447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2. OPF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1BFDC5-1BF0-4C51-8C7E-DFBC647C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4795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openai/privacy-filter</a:t>
            </a:r>
          </a:p>
          <a:p xmlns:a="http://schemas.openxmlformats.org/drawingml/2006/main">
            <a:pPr algn="l">
              <a:defRPr sz="788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범용 PII span 탐지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91CCB9-D9A5-4E81-9FF6-05AD3080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66950"/>
            <a:ext cx="1952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F0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1C3241-9A27-4928-88EF-5D7615C7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90775"/>
            <a:ext cx="16859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3. Regex Safety Net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C8E2F3-4D1A-4992-86B6-23E7C5AD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47950"/>
            <a:ext cx="16859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주민번호, 주소, 전화번호,</a:t>
            </a:r>
          </a:p>
          <a:p xmlns:a="http://schemas.openxmlformats.org/drawingml/2006/main">
            <a:pPr algn="l">
              <a:defRPr sz="788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API key, 계좌, 여권 등 보강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4C2C2B-DB0B-4CED-8FC8-CA1057A9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1952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DC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CBC3BF-55A3-431A-8315-1B1BAE31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390775"/>
            <a:ext cx="16859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4. Context Filter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899BE5-DDED-458E-AD87-38FBF764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647950"/>
            <a:ext cx="16859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예시, 모델명, 주문번호,</a:t>
            </a:r>
          </a:p>
          <a:p xmlns:a="http://schemas.openxmlformats.org/drawingml/2006/main">
            <a:pPr algn="l">
              <a:defRPr sz="788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placeholder 문맥 오탐 제거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ACE685-DA0A-46BF-9BC6-74CB1CA4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66950"/>
            <a:ext cx="1952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EA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7F8F86-7D7B-4A26-A320-5C2D182B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90775"/>
            <a:ext cx="16859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5. Merge &amp; Mask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3199E3-03DA-4842-9D7C-15B4E6DE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47950"/>
            <a:ext cx="16859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overlap 병합 후</a:t>
            </a:r>
          </a:p>
          <a:p xmlns:a="http://schemas.openxmlformats.org/drawingml/2006/main">
            <a:pPr algn="l">
              <a:defRPr sz="788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&lt;PRIVATE_...&gt; 치환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0987A1-A738-4095-8BC8-2A2D6850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705100"/>
            <a:ext cx="32385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158C8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D6356F-7CF5-4A3F-8DEE-12AC18DF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05100"/>
            <a:ext cx="32385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158C8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7E5351-1154-4299-AE0D-6A7C8491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705100"/>
            <a:ext cx="333375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158C8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2ECAAC-7B5E-4A8E-A415-76C8560A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705100"/>
            <a:ext cx="333375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158C8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8932F1-8226-42F2-981F-51681388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91000"/>
            <a:ext cx="9944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8193E7-22F2-40C0-AF82-F5E2F70B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005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핵심 구현 파일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F6DFE1-00E0-4EE2-86CC-354C4630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74345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scripts/pipeline.py: OPF 결과와 regex 결과 병합</a:t>
            </a:r>
          </a:p>
          <a:p xmlns:a="http://schemas.openxmlformats.org/drawingml/2006/main">
            <a:pPr algn="l">
              <a:defRPr sz="90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scripts/regex_safety_net.py: 한국형 패턴, 문맥 false-positive suppression</a:t>
            </a:r>
          </a:p>
          <a:p xmlns:a="http://schemas.openxmlformats.org/drawingml/2006/main">
            <a:pPr algn="l">
              <a:defRPr sz="90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scripts/demo.py: Gradio live demo</a:t>
            </a:r>
          </a:p>
          <a:p xmlns:a="http://schemas.openxmlformats.org/drawingml/2006/main">
            <a:pPr algn="l">
              <a:defRPr sz="90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scripts/evaluate_final_kpf_offline.py: 재현 가능한 최종 평가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05A3A2-344D-4039-AF5D-77BAC8E4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491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7A8491"/>
                </a:solidFill>
                <a:latin typeface="Malgun Gothic"/>
                <a:ea typeface="Malgun Gothic"/>
                <a:cs typeface="Malgun Gothic"/>
              </a:rPr>
              <a:t>K-Privacy Filter 최종 발표 | 4/12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6EAD83-DC90-406D-A580-F606B968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515100"/>
            <a:ext cx="432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49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A8491"/>
                </a:solidFill>
                <a:latin typeface="Aptos"/>
                <a:ea typeface="Aptos"/>
                <a:cs typeface="Aptos"/>
              </a:rPr>
              <a:t>Evidence: repository, Colab runs, Drive artifacts, 2026-05-29</a:t>
            </a:r>
          </a:p>
        </p:txBody>
      </p:sp>
    </p:spTree>
    <p:extLst>
      <p:ext uri="{BB962C8B-B14F-4D97-AF65-F5344CB8AC3E}">
        <p14:creationId xmlns:p14="http://schemas.microsoft.com/office/powerpoint/2010/main" val="193621062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F589BC-B85B-42B6-97E0-8E4B2E12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051036-E160-4D0B-9758-DA035121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8C8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58C86"/>
                </a:solidFill>
                <a:latin typeface="Malgun Gothic"/>
                <a:ea typeface="Malgun Gothic"/>
                <a:cs typeface="Malgun Gothic"/>
              </a:rPr>
              <a:t>핵심 알고리즘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40CAB4-9688-424D-8A94-0BC60B60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933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정규식은 단순 보정이 아니라, 모델의 실패 영역을 맡는 안전망입니다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B8F0D0-77EB-48A7-9ECD-3CDADBBF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971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최종 KPF는 span 탐지, 오탐 억제, 병합 우선순위를 분리해 안정성을 확보했습니다.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CFB67-A684-4A22-AD9B-E05BC696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2A4F5A-0543-4653-833B-1BFE32D3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F0"/>
          </a:solidFill>
          <a:ln xmlns:a="http://schemas.openxmlformats.org/drawingml/2006/main" w="9525">
            <a:solidFill>
              <a:srgbClr val="E2F2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BE53A3-E601-476A-9233-40461B6E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탐지 보강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09F415-2FDA-4A58-BE90-75D19F4E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43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351F7C-B0FA-488C-88AE-A1162F42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876550"/>
            <a:ext cx="2238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주민/외국인등록번호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FBBBFC-48E5-4452-B995-A14164D4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432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A4739B-52FB-4E75-B2AD-F121EC8B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276600"/>
            <a:ext cx="2238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사업자/법인번호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345A0C-E4DE-461F-9E84-7BC2BD28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433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187D6F-1A83-40ED-80F5-44363258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676650"/>
            <a:ext cx="2238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전화번호/계좌/카드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A37242-AB7C-4BAE-9842-847AF9BB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433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0592FB-3F0F-4C7D-B299-8291540F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76700"/>
            <a:ext cx="2238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도로명·지번 주소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92CBBF-A44D-4C06-B191-5A505F4B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434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23C5E6-0B34-42A8-8722-AC4A7AA8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76750"/>
            <a:ext cx="2238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API key·Slack token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1C7ED3-ED1D-4266-9E55-8D8F55EC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09550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13AD18-96F9-4217-B5F3-EFC65416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241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DC"/>
          </a:solidFill>
          <a:ln xmlns:a="http://schemas.openxmlformats.org/drawingml/2006/main" w="9525">
            <a:solidFill>
              <a:srgbClr val="F7EE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160AA8-3A96-438A-89A7-FB427484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38125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문맥 억제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B5D518-616D-4B74-ABC7-2BC7C96C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943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EBDC4A-7852-4BB8-8E9F-A96DB060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76550"/>
            <a:ext cx="2238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예시, 샘플, 더미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455A39-FF28-4A54-B7BA-86BC3735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3432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FF6908-3C01-43A9-81C5-650468EF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76600"/>
            <a:ext cx="2238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상품코드, 모델명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300942-0A25-4DD9-A65D-93614480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7433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D3730B-B697-4220-B8CF-5BE77C64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76650"/>
            <a:ext cx="2238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주문번호, 버전번호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FE796A-78A9-41C7-B23F-313B6B16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1433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37072A-C4DA-4EAA-BAB0-CCDF4840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076700"/>
            <a:ext cx="2238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placeholder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62BEA2-058A-4984-BE88-128E767D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5434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ED54DB-8CF8-4C6F-B103-F12C740D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476750"/>
            <a:ext cx="2238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문서 템플릿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19D184-6BA0-4D18-A8A3-22048265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9550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7E5125-E193-4CA8-8C38-1CBCFFC5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241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8"/>
          </a:solidFill>
          <a:ln xmlns:a="http://schemas.openxmlformats.org/drawingml/2006/main" w="9525">
            <a:solidFill>
              <a:srgbClr val="E8EEF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55437D-1AAA-462D-BEBF-543B7733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8125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병합 정책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AE7925-34A4-49D4-9598-0F679380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43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37BF1A-B343-40D6-B7F7-588733F9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876550"/>
            <a:ext cx="2238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regex span 우선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7587B3-7A51-4D63-A4CE-F2BC3E3E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432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80A922-49BE-461C-9026-5373E758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276600"/>
            <a:ext cx="2238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overlap 중복 제거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A96EFA1-3CDD-4E7A-8884-92F11253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433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62205C-A197-411C-B108-30CD278F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676650"/>
            <a:ext cx="2238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주소 끝 조사 trim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2AD5167-517C-4F02-BF3D-EDA66CD3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1433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1F6609E-25D0-4EBD-AE90-0FEC417D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076700"/>
            <a:ext cx="2238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typed placeholder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5D048C-DA57-444A-AF62-DC7D220A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5434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C2E954C-0B5E-4B53-ADF8-62B4166B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476750"/>
            <a:ext cx="2238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평가용 span 보존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FF3420F-6C10-4410-8FF3-1ACBBACC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19750"/>
            <a:ext cx="9982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F2BC152-D7C9-4C85-A061-3DC196BA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43575"/>
            <a:ext cx="941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설계 원칙: 민감한 정보는 놓치지 않되, 예시·코드·모델명처럼 실제 개인정보가 아닌 값은 가능한 한 제거한다.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2565566-D76D-49E8-9750-D37DC340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491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7A8491"/>
                </a:solidFill>
                <a:latin typeface="Malgun Gothic"/>
                <a:ea typeface="Malgun Gothic"/>
                <a:cs typeface="Malgun Gothic"/>
              </a:rPr>
              <a:t>K-Privacy Filter 최종 발표 | 5/12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4BEBC5E-F99C-4C30-BCEB-54C33C3C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515100"/>
            <a:ext cx="432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49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A8491"/>
                </a:solidFill>
                <a:latin typeface="Aptos"/>
                <a:ea typeface="Aptos"/>
                <a:cs typeface="Aptos"/>
              </a:rPr>
              <a:t>Evidence: repository, Colab runs, Drive artifacts, 2026-05-29</a:t>
            </a:r>
          </a:p>
        </p:txBody>
      </p:sp>
    </p:spTree>
    <p:extLst>
      <p:ext uri="{BB962C8B-B14F-4D97-AF65-F5344CB8AC3E}">
        <p14:creationId xmlns:p14="http://schemas.microsoft.com/office/powerpoint/2010/main" val="172564921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A7EF96-1001-4056-A215-2FEFB9C5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1F4E62-7F1D-4523-B2B8-CCDE31DC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8C8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58C86"/>
                </a:solidFill>
                <a:latin typeface="Malgun Gothic"/>
                <a:ea typeface="Malgun Gothic"/>
                <a:cs typeface="Malgun Gothic"/>
              </a:rPr>
              <a:t>구현체와 산출물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1B02D7-03D3-4741-95E5-324603BE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933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코드는 Colab에서 실제 실행되고, 결과는 Drive와 repo에 남습니다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0CDC8-B381-49A2-AFB3-605774C6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971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라이브 데모와 평가 재현성을 분리해 발표 중 실패 리스크를 줄였습니다.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BDFE9B-8D5E-4EED-A58E-89281A2A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680C02-4584-42A1-B84E-C2921010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8"/>
          </a:solidFill>
          <a:ln xmlns:a="http://schemas.openxmlformats.org/drawingml/2006/main" w="9525">
            <a:solidFill>
              <a:srgbClr val="E8EEF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8C95F0-9822-4C10-BB70-998196DC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8125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Runtime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827196-6389-4EAD-8198-92DDF102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400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1. Google Colab 접속</a:t>
            </a:r>
          </a:p>
          <a:p xmlns:a="http://schemas.openxmlformats.org/drawingml/2006/main">
            <a:pPr algn="l">
              <a:defRPr sz="12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2. Drive mount: /content/drive/MyDrive/k-privacy-filter</a:t>
            </a:r>
          </a:p>
          <a:p xmlns:a="http://schemas.openxmlformats.org/drawingml/2006/main">
            <a:pPr algn="l">
              <a:defRPr sz="12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3. python scripts/demo.py</a:t>
            </a:r>
          </a:p>
          <a:p xmlns:a="http://schemas.openxmlformats.org/drawingml/2006/main">
            <a:pPr algn="l">
              <a:defRPr sz="12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4. Gradio public URL 생성</a:t>
            </a:r>
          </a:p>
          <a:p xmlns:a="http://schemas.openxmlformats.org/drawingml/2006/main">
            <a:pPr algn="l">
              <a:defRPr sz="12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5. 시연 입력 → 마스킹 결과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4DCD68-20C7-41F6-B9E2-C62E321A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2915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DC"/>
          </a:solidFill>
          <a:ln xmlns:a="http://schemas.openxmlformats.org/drawingml/2006/main" w="9525">
            <a:solidFill>
              <a:srgbClr val="F7EE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8AAA5B-A055-42FF-A882-62644F7E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43450"/>
            <a:ext cx="3695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Colab share 링크는 만료되므로 PPT에는 고정 URL을 넣지 않고, 현장에서 새 링크를 생성합니다.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AA5B55-F5B7-4202-B3EC-53CBEB4A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4745AE-0302-4E29-9ECC-0CED3380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241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F0"/>
          </a:solidFill>
          <a:ln xmlns:a="http://schemas.openxmlformats.org/drawingml/2006/main" w="9525">
            <a:solidFill>
              <a:srgbClr val="E2F2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976524-E99B-4A36-86B1-CE59660B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8125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Artifact 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9CCE93-2BF7-4FED-8B04-2C086BCA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4095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results/final_kpf_experiments/</a:t>
            </a:r>
          </a:p>
          <a:p xmlns:a="http://schemas.openxmlformats.org/drawingml/2006/main">
            <a:pPr algn="l">
              <a:defRPr sz="938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  final_kpf_offline_report.md</a:t>
            </a:r>
          </a:p>
          <a:p xmlns:a="http://schemas.openxmlformats.org/drawingml/2006/main">
            <a:pPr algn="l">
              <a:defRPr sz="938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  final_kpf_offline_scores.json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38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results/korean_pii_finetune/</a:t>
            </a:r>
          </a:p>
          <a:p xmlns:a="http://schemas.openxmlformats.org/drawingml/2006/main">
            <a:pPr algn="l">
              <a:defRPr sz="938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  distilbert_mbert_20k_.../final/model.safetensors</a:t>
            </a:r>
          </a:p>
          <a:p xmlns:a="http://schemas.openxmlformats.org/drawingml/2006/main">
            <a:pPr algn="l">
              <a:defRPr sz="938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  eval_20260529/finetuned_eval_report.md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38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results/final_presentation/</a:t>
            </a:r>
          </a:p>
          <a:p xmlns:a="http://schemas.openxmlformats.org/drawingml/2006/main">
            <a:pPr algn="l">
              <a:defRPr sz="938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  최종 PPT, 대본, 시연 가이드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67423D-7822-4E8A-992E-A34E3411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491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7A8491"/>
                </a:solidFill>
                <a:latin typeface="Malgun Gothic"/>
                <a:ea typeface="Malgun Gothic"/>
                <a:cs typeface="Malgun Gothic"/>
              </a:rPr>
              <a:t>K-Privacy Filter 최종 발표 | 6/12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00CD05-98FA-4803-82C3-69D70AA3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515100"/>
            <a:ext cx="432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49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A8491"/>
                </a:solidFill>
                <a:latin typeface="Aptos"/>
                <a:ea typeface="Aptos"/>
                <a:cs typeface="Aptos"/>
              </a:rPr>
              <a:t>Evidence: repository, Colab runs, Drive artifacts, 2026-05-29</a:t>
            </a:r>
          </a:p>
        </p:txBody>
      </p:sp>
    </p:spTree>
    <p:extLst>
      <p:ext uri="{BB962C8B-B14F-4D97-AF65-F5344CB8AC3E}">
        <p14:creationId xmlns:p14="http://schemas.microsoft.com/office/powerpoint/2010/main" val="90254547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72A8A5-B3E7-45E9-B319-17D88B01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1578C7-3E70-487F-A219-5A08BB27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8C8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58C86"/>
                </a:solidFill>
                <a:latin typeface="Malgun Gothic"/>
                <a:ea typeface="Malgun Gothic"/>
                <a:cs typeface="Malgun Gothic"/>
              </a:rPr>
              <a:t>평가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715451-1E5B-4037-B7D7-D999D46D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933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최종 KPF는 단순 F1보다 오탐 통제까지 함께 개선했습니다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F75055-C80C-42B5-B128-1CC52800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971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숫자는 모두 재현 가능한 offline replay 기준이며, hard-negative 0은 고정 샘플 100개에서만 의미합니다.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B8B62D-CAA3-49AF-ACA4-C6DBD882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5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65A4E2-AF96-42D6-99E0-0B8D85C9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62175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System / 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4A8E35-63CA-41F2-88BE-9231477E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764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5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BCC6CD-4134-4934-A7B8-6E98B6A7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162175"/>
            <a:ext cx="1228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97F122-CEB8-4AA0-BC81-7EEE0CD9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764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5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F39823-C7D8-4B03-A813-FB54EB40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162175"/>
            <a:ext cx="1228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735F43-119E-40F1-999E-96345668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764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5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69398C-B620-4A8C-BAEA-F22131AC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62175"/>
            <a:ext cx="1228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Exact F1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10BF90-C20C-4CE8-9DC1-75D2E17F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0764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5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0AD08E-4E45-46D4-B12C-4A0CAD79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162175"/>
            <a:ext cx="1228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Covered 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30B4A9-06CA-493E-9EC1-54CBC03F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764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5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612EAC-BF37-4736-93D0-022EF3AB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62175"/>
            <a:ext cx="1228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False Positive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C1E800-A865-4056-95A0-A8C5AA1E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B4F501-4542-4103-8448-45577863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19375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Baseline OPF / Eval300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1FD58A-E383-4BD7-89B5-81E520DF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336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BB5A0F-BF57-4996-95FC-CC9909F2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19375"/>
            <a:ext cx="1228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0.6716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77CB05-C6E1-4A71-86B0-BA448AD3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336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3437F5-5C25-4D53-907D-21F470DA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619375"/>
            <a:ext cx="1228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0.5332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264C4E-70AB-4675-A78E-777382E1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336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F04E8B-3280-4F0B-9D3D-59B78BDE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19375"/>
            <a:ext cx="1228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0.5945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B1D95E-D53D-445A-8457-6DE16BC1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5336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7D0640-6BEE-4A71-A38A-B8A47FBD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619375"/>
            <a:ext cx="1228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434C6D-1A5E-4931-B00F-1BAC56E6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336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043032-0F3C-4B1C-A69A-2B6ADBBE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19375"/>
            <a:ext cx="1228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0.3284 FPR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128A8F-36BD-4715-89C7-93FD851C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9085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2EF56F-F49D-410E-82C6-4B22B7AE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76575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Existing hybrid / Eval300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7EAADD-22DF-434C-A841-4F655B05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908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02367F-8B6D-4770-A7D3-6DDF387E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76575"/>
            <a:ext cx="1228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0.7471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122816-C77B-4B19-9883-E432F700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908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C463FD-C60D-4C7B-8324-1B39A01B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076575"/>
            <a:ext cx="1228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0.6090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17D6A9-02B6-4FD5-84A1-2CC8F5DB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908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AEFDDA-E506-4685-A86C-E3EDE5A3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76575"/>
            <a:ext cx="1228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0.6710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A0B876-36DC-408D-8894-B8BF488F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9908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6D2C8D-D035-46CD-B431-6D64C23E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076575"/>
            <a:ext cx="1228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0.7796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083A22-5DEA-472F-BE41-6BD0895E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908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8AB465-0393-4CA6-9C36-A2A49CF6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76575"/>
            <a:ext cx="1228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87 FP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72D3139-894A-48AC-983F-07A04BB2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4805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0B50664-6C0A-4288-B806-5D49A622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33775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Final KPF / Eval300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5D2BDB9-24A6-4094-87A7-1C539A53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480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F4C7D99-0919-4623-BBCE-22223E56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533775"/>
            <a:ext cx="1228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0.7703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BB4CB98-239C-4A22-9CD6-3A0A5F24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480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6194DDD-1611-43A4-A581-C7D08119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533775"/>
            <a:ext cx="1228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0.6280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AE1018E-6860-4E84-8A4C-24A92CC0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480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B1CBBE2-527F-4DFA-8DF4-CE635D54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33775"/>
            <a:ext cx="1228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0.6919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4975A8A-5E9E-43C7-A59C-15721D3B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4480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EEF241C-2BAC-4E42-A27E-747FDECB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533775"/>
            <a:ext cx="1228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0.7796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095ADB5-375E-472A-977A-27016E99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480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06146B6-577B-4AE9-B9BD-7CC55022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33775"/>
            <a:ext cx="1228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79 FP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09250C3-DE74-4B04-B8D5-FCD96CBA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30670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3FB370C-9D5D-4C3E-93A7-2F6DF60E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339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357A6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2357A6"/>
                </a:solidFill>
                <a:latin typeface="Aptos Display"/>
                <a:ea typeface="Aptos Display"/>
                <a:cs typeface="Aptos Display"/>
              </a:rPr>
              <a:t>+0.0974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11C036F-D2D6-4CF8-AAEA-61C6DDA3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625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Eval300 F1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965F321-E398-4EC4-B2FC-3453ED8F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72075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baseline OPF 대비</a:t>
            </a:r>
          </a:p>
          <a:p xmlns:a="http://schemas.openxmlformats.org/drawingml/2006/main">
            <a:pPr algn="ctr">
              <a:defRPr sz="6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0.5945 -&gt; 0.6919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02680DD-3F21-4476-9CF6-852EDB8C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343400"/>
            <a:ext cx="30670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FE2FBAD-10F5-4F92-B635-081CFB04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5339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F7D4E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2F7D4E"/>
                </a:solidFill>
                <a:latin typeface="Aptos Display"/>
                <a:ea typeface="Aptos Display"/>
                <a:cs typeface="Aptos Display"/>
              </a:rPr>
              <a:t>0 / 100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D9E593A-EBFF-4F7F-A8E0-629C07E8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9625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Hard-negative 100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262571E-859F-4D22-9788-BBD12ECD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5172075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final KPF가 flag한 샘플 수</a:t>
            </a:r>
          </a:p>
          <a:p xmlns:a="http://schemas.openxmlformats.org/drawingml/2006/main">
            <a:pPr algn="ctr">
              <a:defRPr sz="6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전체 FPR 0 주장 아님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8DDDD38-EB6B-4893-9382-C451EFAE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43400"/>
            <a:ext cx="30670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C166433-FF88-4D5E-9D66-080C24D8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5339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58C86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58C86"/>
                </a:solidFill>
                <a:latin typeface="Aptos Display"/>
                <a:ea typeface="Aptos Display"/>
                <a:cs typeface="Aptos Display"/>
              </a:rPr>
              <a:t>0.9000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83A9D15-B60C-4B55-B334-CA284970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9625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Adversarial 10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5438D27-4F88-4F1E-9FEC-93A54A0F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72075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우회형 입력 exact F1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B52CA4E-9C83-4D24-B548-1F8959D7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674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DC"/>
          </a:solidFill>
          <a:ln xmlns:a="http://schemas.openxmlformats.org/drawingml/2006/main" w="9525">
            <a:solidFill>
              <a:srgbClr val="F7EEDC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9F58633-E519-4DF0-88CD-D5D61B6B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9245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발표 방어 문장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6181F87-1178-4034-8CF6-0FBCF70E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895975"/>
            <a:ext cx="819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Hard-negative FPR 0은 정해진 100개 샘플에서의 결과입니다. 그래서 저는 '완벽하다'가 아니라 '이전 hybrid의 명백한 오탐을 줄였다'고 설명합니다.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7D2A92F-8AF4-4630-96E7-1A373BD0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491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7A8491"/>
                </a:solidFill>
                <a:latin typeface="Malgun Gothic"/>
                <a:ea typeface="Malgun Gothic"/>
                <a:cs typeface="Malgun Gothic"/>
              </a:rPr>
              <a:t>K-Privacy Filter 최종 발표 | 7/12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712A565-7073-472C-841F-FC4B81E1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515100"/>
            <a:ext cx="432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49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A8491"/>
                </a:solidFill>
                <a:latin typeface="Aptos"/>
                <a:ea typeface="Aptos"/>
                <a:cs typeface="Aptos"/>
              </a:rPr>
              <a:t>Evidence: repository, Colab runs, Drive artifacts, 2026-05-29</a:t>
            </a:r>
          </a:p>
        </p:txBody>
      </p:sp>
    </p:spTree>
    <p:extLst>
      <p:ext uri="{BB962C8B-B14F-4D97-AF65-F5344CB8AC3E}">
        <p14:creationId xmlns:p14="http://schemas.microsoft.com/office/powerpoint/2010/main" val="155764790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732771-E8D7-497F-845B-763E0114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6D3402-1640-4214-B2E1-2257F1DB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8C8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58C86"/>
                </a:solidFill>
                <a:latin typeface="Malgun Gothic"/>
                <a:ea typeface="Malgun Gothic"/>
                <a:cs typeface="Malgun Gothic"/>
              </a:rPr>
              <a:t>Fine-tuning 실험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3FCD14-2022-4764-81CB-5534E39E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933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학습은 정상 저장했지만, 최종 배포 후보로 쓰지는 않았습니다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ECEC6-4C70-416C-8DC2-BE2A0AF4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971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성공한 실험도 결과가 나쁘면 버리는 것이 보안 프로젝트에서는 더 전문적인 판단입니다.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550071-B1D1-4F69-AAB1-F8C37107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4572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87E511-B279-4A28-8BE8-80CC7E04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EA"/>
          </a:solidFill>
          <a:ln xmlns:a="http://schemas.openxmlformats.org/drawingml/2006/main" w="9525">
            <a:solidFill>
              <a:srgbClr val="E8F2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26E407-FE65-45E1-BC71-F3244E70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24100"/>
            <a:ext cx="87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완료한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519C6-05F3-431F-9709-0F9071E6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670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E2F45F-9230-4E9A-90D2-DADCE451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800350"/>
            <a:ext cx="3381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한국형 개인정보 synthetic dataset 생성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5FA4D6-A0F2-4140-AF46-C34603C9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432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C19178-3AFD-4698-8391-C6255273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276600"/>
            <a:ext cx="3381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train 50,000 / val 5,000 / test 5,000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525515-E20B-4CED-A1CE-B9C681DA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95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256E3C-C519-40ED-9EFA-FDD78C63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752850"/>
            <a:ext cx="3381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DistilBERT multilingual token classifier 학습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94373D-DE08-4C88-B8E5-426F20CA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F0E119-842F-4EC1-B2F3-314C8F45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229100"/>
            <a:ext cx="3381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Colab Drive에 final/model.safetensors 저장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78D006-067A-4645-B163-257B62B7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19650"/>
            <a:ext cx="3714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체크포인트: results/korean_pii_finetune/distilbert_mbert_20k_20260529_success/final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8E22E9-4CA6-4EBF-9CF3-B7948025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114550"/>
            <a:ext cx="2095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5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BFF3BB-4A1C-465E-BCB0-A8168DB8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200275"/>
            <a:ext cx="1943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Fine-tuned standalone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0A233F-8866-4A94-99A0-D64D884F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14550"/>
            <a:ext cx="1333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5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01C091-3812-41BF-A2DB-297A3B32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200275"/>
            <a:ext cx="1181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Exact F1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6AFF3F-845B-4997-9265-32046E0A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114550"/>
            <a:ext cx="1333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5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16DB0F-8181-431E-9A31-BA407F51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200275"/>
            <a:ext cx="1181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Empty-row FPR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B9DD3D-F78D-4D31-AB23-05D8A287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114550"/>
            <a:ext cx="1333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5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134146-162C-406B-B5AF-2663F1A3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2200275"/>
            <a:ext cx="1181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판단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8C5174-F30E-41DB-AC1F-468BDE6E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543175"/>
            <a:ext cx="2095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D5DE74-53BC-45A0-A588-84CAA063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628900"/>
            <a:ext cx="1943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Synthetic test 5000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ECAA22-BA2A-428C-A70C-763E67D7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43175"/>
            <a:ext cx="1333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857344-4500-47E6-AB0D-CD6CD553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628900"/>
            <a:ext cx="1181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0.9912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B553F5-C7BF-4C36-A65D-1E2827ED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543175"/>
            <a:ext cx="1333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D79CE9-607D-459A-87CB-207EC3C6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628900"/>
            <a:ext cx="1181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0.0000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DE1CEB-DB85-416A-9F3E-D1FCE7DE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543175"/>
            <a:ext cx="1333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F6A8A9-FC76-4E5D-9A05-9C2758DA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2628900"/>
            <a:ext cx="1181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과적합 가능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1667EF-2FE7-42BC-BDAE-1987049D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971800"/>
            <a:ext cx="2095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9343B3-856D-4142-AE70-7EBDD85C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057525"/>
            <a:ext cx="1943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Eval300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5BB2ED-DA7F-4595-B9DE-893FB685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71800"/>
            <a:ext cx="1333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B0BDCB-997E-4ED7-8B87-695E0137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057525"/>
            <a:ext cx="1181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0.6052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736C58-0C79-41C4-86BD-533C25E0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971800"/>
            <a:ext cx="1333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83EAB6-F26B-4FFE-8E66-F9430318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057525"/>
            <a:ext cx="1181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0.0000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3375E1-B564-4850-A98A-C399E5CC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971800"/>
            <a:ext cx="1333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61B8EA-7D50-41A8-BD12-1374B1C4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3057525"/>
            <a:ext cx="1181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최종 KPF보다 낮음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1AC2F1E-C36C-485D-AF1B-EEACE4EA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400425"/>
            <a:ext cx="2095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8057DC2-50E5-494E-A4E8-BAC230F7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486150"/>
            <a:ext cx="1943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Hard-negative 100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F67E638-EF1B-4DE4-88A8-1212D2B2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400425"/>
            <a:ext cx="1333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9B14DDC-934F-4104-8D6B-89AB7454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486150"/>
            <a:ext cx="1181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0.0000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89429B4-3DF1-49E2-8795-B8160CD6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400425"/>
            <a:ext cx="1333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23D65B5-FADB-40A9-8BD0-1AF2A300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486150"/>
            <a:ext cx="1181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0.5700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3C8486C-F201-480F-99DE-0CB70AA7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400425"/>
            <a:ext cx="1333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8271314-839F-4A3C-8216-4CBCCB8E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3486150"/>
            <a:ext cx="1181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오탐 위험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317F689-1ACE-455B-94F0-749F81D4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829050"/>
            <a:ext cx="2095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5AD4A21-6B0B-4D5A-B395-C425BE60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914775"/>
            <a:ext cx="1943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Adversarial 10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E89F586-D538-490F-9CFA-CAAE9385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829050"/>
            <a:ext cx="1333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C3F20A5-6617-447B-831E-D78BB8D5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914775"/>
            <a:ext cx="1181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0.2000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0AB44AA-78C4-4297-8D74-4EBC3F21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829050"/>
            <a:ext cx="1333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400A316-35E8-4760-BC5C-30C53FC2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914775"/>
            <a:ext cx="1181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40F90C9-5852-4A32-97B8-6FCA2B4A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829050"/>
            <a:ext cx="1333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9BCDB9B-29AF-4B6E-A23C-4AF6EDED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3914775"/>
            <a:ext cx="1181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우회 취약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D5C1CCD-DFF1-4442-B265-DD1776CE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62500"/>
            <a:ext cx="4095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8E8"/>
          </a:solidFill>
          <a:ln xmlns:a="http://schemas.openxmlformats.org/drawingml/2006/main" w="9525">
            <a:solidFill>
              <a:srgbClr val="F7E8E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E64ED96-7A6B-4F06-8328-CDD64D8B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149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B9474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B94747"/>
                </a:solidFill>
                <a:latin typeface="Aptos Display"/>
                <a:ea typeface="Aptos Display"/>
                <a:cs typeface="Aptos Display"/>
              </a:rPr>
              <a:t>보류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B9DA907-976F-4C3B-A801-38EA0E22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343525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Deploy decision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2902AFA-D668-4EE3-A268-A124D67E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553075"/>
            <a:ext cx="1381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단독 모델은 시연 기준 미달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CB80396-045D-411B-A926-6A4C4D0B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101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최종 발표 메시지: fine-tuning은 연구 트랙으로 보관하고, 실제 데모는 hybrid KPF로 진행합니다.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410EA43-4A45-410B-94D8-A0550267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491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7A8491"/>
                </a:solidFill>
                <a:latin typeface="Malgun Gothic"/>
                <a:ea typeface="Malgun Gothic"/>
                <a:cs typeface="Malgun Gothic"/>
              </a:rPr>
              <a:t>K-Privacy Filter 최종 발표 | 8/12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59B88DA-6AD9-421C-B104-1B00856F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515100"/>
            <a:ext cx="432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49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A8491"/>
                </a:solidFill>
                <a:latin typeface="Aptos"/>
                <a:ea typeface="Aptos"/>
                <a:cs typeface="Aptos"/>
              </a:rPr>
              <a:t>Evidence: repository, Colab runs, Drive artifacts, 2026-05-29</a:t>
            </a:r>
          </a:p>
        </p:txBody>
      </p:sp>
    </p:spTree>
    <p:extLst>
      <p:ext uri="{BB962C8B-B14F-4D97-AF65-F5344CB8AC3E}">
        <p14:creationId xmlns:p14="http://schemas.microsoft.com/office/powerpoint/2010/main" val="30833227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582013-61F8-4FD9-8B56-FE310143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D39CA7-B572-4CBF-9193-EB44994F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8C8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58C86"/>
                </a:solidFill>
                <a:latin typeface="Malgun Gothic"/>
                <a:ea typeface="Malgun Gothic"/>
                <a:cs typeface="Malgun Gothic"/>
              </a:rPr>
              <a:t>Live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668BB9-FF35-482E-8BB9-A91409C3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933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Colab에서 실제 필터를 실행하고 Gradio로 보여줍니다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419C71-F213-490A-A325-563C3371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971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시연은 fine-tuned 단독 모델이 아니라, 최종 hybrid KPF 경로로 진행합니다.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FC7931-D55E-4175-A967-691E241E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37147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6DBAB6-6AAE-4498-986B-5ACC94A4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8"/>
          </a:solidFill>
          <a:ln xmlns:a="http://schemas.openxmlformats.org/drawingml/2006/main" w="9525">
            <a:solidFill>
              <a:srgbClr val="E8EEF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9613E0-BCA3-484E-B7BB-E6E18435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24100"/>
            <a:ext cx="87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실행 순서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099923-1AAA-475D-888C-0629ED05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860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F3E42F-EA73-417A-BEE3-249EB2B0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819400"/>
            <a:ext cx="2714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Colab 노트북 접속 후 Drive mount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52A7D5-C074-4237-B5B5-358714CD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813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ECFC51-6391-4A13-906C-5328BD68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314700"/>
            <a:ext cx="2714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프로젝트 폴더로 이동: /content/drive/MyDrive/k-privacy-filter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B1940A-1C01-4AA2-90E9-ABF702B2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719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10BEC7-4761-4F2E-8891-C5F8EABD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905250"/>
            <a:ext cx="2714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python scripts/demo.py 실행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955477-F369-4952-A751-56447D47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67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3C374F-28D9-43CD-AC40-0B8A5372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400550"/>
            <a:ext cx="2714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Gradio public URL을 열고 입력/결과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A50F67-2B92-4066-9107-64B36459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625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2CEF7E-3FEC-4126-A240-96D18507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895850"/>
            <a:ext cx="2714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네트워크 오류 시 녹화 영상 또는 캡처 결과로 대체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C6D466-8BB8-4717-BB6A-1B53110A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19300"/>
            <a:ext cx="65722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B89C1B-8F5F-4410-91DC-CB79E259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6695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F0"/>
          </a:solidFill>
          <a:ln xmlns:a="http://schemas.openxmlformats.org/drawingml/2006/main" w="9525">
            <a:solidFill>
              <a:srgbClr val="E2F2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C9C809-2F8F-4484-9C7A-E2BE4F08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24100"/>
            <a:ext cx="99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시연 입력 3개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CA848F-1DCE-440B-BF4D-F22577F8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194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1) 주소 + 이름 + API key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F703B7-D693-4DE4-8A22-1BE9488E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48000"/>
            <a:ext cx="523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주소는 경기도 화성시 동탄역로 150 102동 3804호야. 그리고 내 이름은 최호준이고, api 키는 sk-...야.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55EE1A-E24F-44D5-8D6B-35C8474F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909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F7D4E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2F7D4E"/>
                </a:solidFill>
                <a:latin typeface="Malgun Gothic"/>
                <a:ea typeface="Malgun Gothic"/>
                <a:cs typeface="Malgun Gothic"/>
              </a:rPr>
              <a:t>기대: 주소, 이름, secret이 각각 &lt;PRIVATE_...&gt;로 마스킹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B9C595-96AA-48DC-8302-085B3CD2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100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2) 아이디 + 비밀번호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4B4A1E-781A-44F6-A6C3-1A54247F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0386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아이디는 chjspd고, 비밀번호는 chIghwns1011!@!이야.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F3C761-2896-49C9-8385-B4B41732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3243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F7D4E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2F7D4E"/>
                </a:solidFill>
                <a:latin typeface="Malgun Gothic"/>
                <a:ea typeface="Malgun Gothic"/>
                <a:cs typeface="Malgun Gothic"/>
              </a:rPr>
              <a:t>기대: 비밀번호는 secret으로 마스킹, 아이디는 정책에 따라 계정 식별자로 처리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C1D65D-7879-4227-A4CF-7FD09BD9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434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3) Hard-negative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00E961-4F5C-4508-A665-9A463D02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972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모델명은 900101-1234567-A입니다.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43276E-C78D-4C5E-AA4C-6A00000B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238750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F7D4E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2F7D4E"/>
                </a:solidFill>
                <a:latin typeface="Malgun Gothic"/>
                <a:ea typeface="Malgun Gothic"/>
                <a:cs typeface="Malgun Gothic"/>
              </a:rPr>
              <a:t>기대: 실제 주민번호가 아닌 코드형 문맥이면 마스킹하지 않음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DCD13F-A0B1-4207-A1FC-11DFDEA3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10401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0F9C71-EDF2-4572-A808-D56F3BBE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000750"/>
            <a:ext cx="9829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시연 멘트: '이 화면은 정답을 외워서 맞히는 것이 아니라, 입력 문맥과 한국형 패턴을 동시에 확인하는 최종 KPF 경로입니다.'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824530-1951-4CC3-A71A-CDEFC18E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491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7A8491"/>
                </a:solidFill>
                <a:latin typeface="Malgun Gothic"/>
                <a:ea typeface="Malgun Gothic"/>
                <a:cs typeface="Malgun Gothic"/>
              </a:rPr>
              <a:t>K-Privacy Filter 최종 발표 | 9/12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6ED157-7C7A-42C6-9372-74BBEE31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515100"/>
            <a:ext cx="432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49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A8491"/>
                </a:solidFill>
                <a:latin typeface="Aptos"/>
                <a:ea typeface="Aptos"/>
                <a:cs typeface="Aptos"/>
              </a:rPr>
              <a:t>Evidence: repository, Colab runs, Drive artifacts, 2026-05-29</a:t>
            </a:r>
          </a:p>
        </p:txBody>
      </p:sp>
    </p:spTree>
    <p:extLst>
      <p:ext uri="{BB962C8B-B14F-4D97-AF65-F5344CB8AC3E}">
        <p14:creationId xmlns:p14="http://schemas.microsoft.com/office/powerpoint/2010/main" val="166214357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45B264-3D02-4859-94F6-59ABA0CE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465509-2F53-4615-9EE3-6B562E5E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8C8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58C86"/>
                </a:solidFill>
                <a:latin typeface="Malgun Gothic"/>
                <a:ea typeface="Malgun Gothic"/>
                <a:cs typeface="Malgun Gothic"/>
              </a:rPr>
              <a:t>AI 및 Git 협업 성과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B5A8C5-4353-42BC-8C27-1E1BDD88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933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AI를 코드 생성기가 아니라 실험 매니저처럼 디렉팅했습니다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E55603-425F-4471-B2CD-DE2D07CB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971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실패한 실험까지 Git과 결과 파일로 남겨, 발표자가 개발 과정을 설명할 수 있게 만들었습니다.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41B40A-6880-4142-9406-39CFBD3E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47625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72111E-941A-41E7-8FF5-25F4BA42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F0"/>
          </a:solidFill>
          <a:ln xmlns:a="http://schemas.openxmlformats.org/drawingml/2006/main" w="9525">
            <a:solidFill>
              <a:srgbClr val="E2F2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13BE1A-7D2A-4715-B78E-6B9BBB66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241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AI 디렉팅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3211FD-2A79-4C2C-A059-09FB776D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479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0F66F0-DD02-423A-BE6F-BB2F6E50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781300"/>
            <a:ext cx="3667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문제 재정의: 한국어 개인정보와 보안 오탐 문제로 범위 조정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09EE27-ED41-41B1-8205-1524D128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194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5CB545-7A28-4B78-B985-C59F3233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352800"/>
            <a:ext cx="3667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Colab 실험: 데이터 생성, 학습, 평가, 오류 분석을 반복 실행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0D0556-3957-4FEB-A356-F5BEF15B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16664B-2ECC-4181-A81D-4414B7FA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924300"/>
            <a:ext cx="3667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디버깅: hard-negative FPR 0의 의미를 재검증하고 과장 제거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70592B-A494-465F-AA0A-83C549C8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624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12CE76-18B3-4458-9E7F-140EF35B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495800"/>
            <a:ext cx="3667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발표화: 평가 기준에 맞춰 메시지, 시연, 대본을 재구성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C44B8D-06C9-498A-977B-DDF0EF83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33600"/>
            <a:ext cx="2095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5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5194BB-30BA-40CD-B47B-743684FC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19325"/>
            <a:ext cx="1943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C5F055-AAA9-4F8A-8E00-CAAAEF03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33600"/>
            <a:ext cx="2000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5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92E79A-5239-4E4C-9F9B-86760278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19325"/>
            <a:ext cx="18478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it proves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29BF19-F27D-4BDC-8282-116786E3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133600"/>
            <a:ext cx="1714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5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79BF2C-006F-41D1-A016-1E70FB2C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219325"/>
            <a:ext cx="1562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Count /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93714C-35A2-4670-A4FB-C47B31B9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43175"/>
            <a:ext cx="2095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D5FCC2-D692-477A-BBF8-51FFC105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28900"/>
            <a:ext cx="1943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Git commits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7BB433-74AE-4E19-A1F5-8A25BA02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43175"/>
            <a:ext cx="2000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A56591-49E9-43E7-9836-FA5F6441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28900"/>
            <a:ext cx="18478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과정이 추적 가능함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075172-B55C-412B-9739-0C1C0060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543175"/>
            <a:ext cx="1714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E24802-D71E-40B2-B01B-D37815DD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628900"/>
            <a:ext cx="1562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9 commits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6DE302-DBF0-4D12-A212-CD36B06C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952750"/>
            <a:ext cx="2095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0B530C-33C1-4ADB-95A9-34EDF58A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038475"/>
            <a:ext cx="1943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Synthetic dataset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F88F72-24EC-43CF-B8ED-3B5793C8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52750"/>
            <a:ext cx="2000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BBD2FF-F538-4217-8E62-712109BD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38475"/>
            <a:ext cx="18478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한국형 PII 학습 기반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BEF3FC-5FE6-46CE-A355-DF8F1246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952750"/>
            <a:ext cx="1714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FA95AD-FED6-4F43-AA3C-20C01559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038475"/>
            <a:ext cx="1562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50k / 5k / 5k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CB161D-820C-4A80-9F28-CFEEBED8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362325"/>
            <a:ext cx="2095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73A4FD-6F50-4E58-B9FD-97AE2EB2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448050"/>
            <a:ext cx="1943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Eval sets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46DB63-D5BD-4E95-A0E6-A3737CB7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62325"/>
            <a:ext cx="2000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C68463-B3D5-4B66-8E77-0550843C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48050"/>
            <a:ext cx="18478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정답 외 일반화 확인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8600CD-CF73-4C91-8A5D-F8BC3A3B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362325"/>
            <a:ext cx="1714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B3D71C-8F92-413F-B715-91D21FA2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448050"/>
            <a:ext cx="1562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300 / 100 / 10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BFE694-C5B8-4A70-8FF8-A42303DC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771900"/>
            <a:ext cx="2095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4A5BFC-D917-45F7-A325-5645FA07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857625"/>
            <a:ext cx="1943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Fine-tune checkpoint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6A1BB4A-36C0-4765-97FB-78A430A0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71900"/>
            <a:ext cx="2000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53AC57-95C6-42C0-9BF0-2392CF27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57625"/>
            <a:ext cx="18478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학습 저장 성공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CD4D0BE-3A23-42DA-B8DF-7E8DD732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771900"/>
            <a:ext cx="1714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6CD7E55-C4F0-406F-83EE-99F2727E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857625"/>
            <a:ext cx="1562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model.safetensors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BD9595-0FF0-450A-B67E-15D6ABCF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181475"/>
            <a:ext cx="2095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8CE9D75-A67F-4DA5-97B5-600A9F63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267200"/>
            <a:ext cx="1943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Final reports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DFB03CF-F2DC-4C65-8441-35E97107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81475"/>
            <a:ext cx="2000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D6E7BA0-BF3D-4D6B-9B4C-774E5BCF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67200"/>
            <a:ext cx="18478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재현 가능한 결과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26A2400-0B5C-4886-B738-E5E11CEA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181475"/>
            <a:ext cx="1714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A6C0FFC-22E8-46F9-986F-36DAE693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267200"/>
            <a:ext cx="1562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results/*.md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F0DFB19-D000-41D7-BD15-756BBDE3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53100"/>
            <a:ext cx="10439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DC"/>
          </a:solidFill>
          <a:ln xmlns:a="http://schemas.openxmlformats.org/drawingml/2006/main" w="9525">
            <a:solidFill>
              <a:srgbClr val="F7EED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9BCF10A-BDCC-4749-8C8D-BB64C453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674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질의응답 포인트: AI가 한 번에 답을 준 것이 아니라, 내가 평가 기준과 실패 사례를 계속 던져서 더 안전한 최종 구현으로 수렴시켰다고 설명합니다.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F3DE66C-2E75-4354-8293-8C96FC55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491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7A8491"/>
                </a:solidFill>
                <a:latin typeface="Malgun Gothic"/>
                <a:ea typeface="Malgun Gothic"/>
                <a:cs typeface="Malgun Gothic"/>
              </a:rPr>
              <a:t>K-Privacy Filter 최종 발표 | 10/12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2E3F595-748F-48BC-8D9E-1BAD6FE2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515100"/>
            <a:ext cx="432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49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A8491"/>
                </a:solidFill>
                <a:latin typeface="Aptos"/>
                <a:ea typeface="Aptos"/>
                <a:cs typeface="Aptos"/>
              </a:rPr>
              <a:t>Evidence: repository, Colab runs, Drive artifacts, 2026-05-29</a:t>
            </a:r>
          </a:p>
        </p:txBody>
      </p:sp>
    </p:spTree>
    <p:extLst>
      <p:ext uri="{BB962C8B-B14F-4D97-AF65-F5344CB8AC3E}">
        <p14:creationId xmlns:p14="http://schemas.microsoft.com/office/powerpoint/2010/main" val="150643694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9612BB-1EAE-45E8-A7A4-D9590B8F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654C94-AB4F-48ED-B886-E9DE3F64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8C8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58C86"/>
                </a:solidFill>
                <a:latin typeface="Malgun Gothic"/>
                <a:ea typeface="Malgun Gothic"/>
                <a:cs typeface="Malgun Gothic"/>
              </a:rPr>
              <a:t>한계점 및 향후 과제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73F45F-30CF-455A-B30E-CB1BBAE3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933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보안 시스템은 '잘 맞춘 예시'보다 실패 조건을 공개하는 쪽이 더 강합니다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B30116-C137-4F7D-A5DB-C71954DD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971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이번 프로젝트의 핵심 인사이트는 precision, recall, 오탐 억제를 함께 관리해야 한다는 것입니다.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189D1-33C7-4F6A-B3FC-121E6962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429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FBEA0E-5A6B-491B-B083-C4F281B0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8E8"/>
          </a:solidFill>
          <a:ln xmlns:a="http://schemas.openxmlformats.org/drawingml/2006/main" w="9525">
            <a:solidFill>
              <a:srgbClr val="F7E8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F8F2EF-1C8C-4D3E-BB79-26B55CF7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971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현재 한계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3265D-867B-403E-91F7-65D758F2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051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70F63D-C5B4-4E5D-9DEC-C02C2743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838450"/>
            <a:ext cx="2714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synthetic 데이터와 실제 사용자 데이터 사이의 분포 차이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D188FD-7A11-42E8-AB2E-775B586F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75E2F4-2B27-426C-8571-BEC73EB1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505200"/>
            <a:ext cx="2714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fine-tuned 단독 모델의 label confusion과 hard-negative 오탐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04889A-04AB-4090-8960-4D2B2922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386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3C8A3A-1ADF-4DEE-928A-EAB3A9B3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171950"/>
            <a:ext cx="2714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소규모 adversarial set으로는 모든 우회 공격을 대표할 수 없음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332E4F-3E65-403D-9748-9F214B42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007876-D0B2-444D-95E0-53D0783C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838700"/>
            <a:ext cx="2714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Colab/Gradio 환경은 네트워크와 런타임 상태에 영향을 받음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81808D-57D0-4838-BBD9-142AF486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038350"/>
            <a:ext cx="3429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F872CF-9B02-4C94-9171-95B9CEE0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26695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8"/>
          </a:solidFill>
          <a:ln xmlns:a="http://schemas.openxmlformats.org/drawingml/2006/main" w="9525">
            <a:solidFill>
              <a:srgbClr val="E8EEF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A86B37-8B9F-421C-B30D-734F774D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324100"/>
            <a:ext cx="971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개선 방향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A36D87-90A4-478D-9138-7F48FFC4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051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7C5746-DD8A-472A-94F2-2EB3E67B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38450"/>
            <a:ext cx="2714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실제 문서/로그 스타일을 반영한 한국형 데이터셋 확장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AD3F89-C758-4F4C-AFCE-AED8D212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5718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6B9BBF-B54E-4083-B8ED-2F5104FC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505200"/>
            <a:ext cx="2714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hard-negative를 평가 게이트로 고정해 regression 방지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91CCB8-2621-4262-962C-B5705147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2386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6636A9-5218-4967-BD77-3CAE2333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171950"/>
            <a:ext cx="2714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regex 이후 LLM/분류기 기반 context verifier 추가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07431D-7DE5-4107-B04F-66C38782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9053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D7FCCB-A4C8-442A-90AC-38087E50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838700"/>
            <a:ext cx="2714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CI에서 Eval300, hard-negative, adversarial replay 자동화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6085D4-EE17-44C8-A678-EA4C349F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38350"/>
            <a:ext cx="3429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AD2A47-1CA0-4EAA-8D68-2D87FB84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6695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EA"/>
          </a:solidFill>
          <a:ln xmlns:a="http://schemas.openxmlformats.org/drawingml/2006/main" w="9525">
            <a:solidFill>
              <a:srgbClr val="E8F2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4C9248-AB01-48BD-8CF2-DAC26598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24100"/>
            <a:ext cx="971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보안 인사이트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08BCC2-37E3-4A5F-A7FF-78D45ACA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051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14FE3B-B4AB-4BF6-A583-BC87372F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838450"/>
            <a:ext cx="2714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개인정보 필터는 과소탐과 과대탐이 모두 위험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FFD094-883E-4145-B644-AE672657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718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226D9A-7070-4BFC-B47E-8B0EFF67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505200"/>
            <a:ext cx="2714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모델 성능표 하나보다 실패 사례 분석이 더 중요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755AB4-3E39-4977-B8BD-076BF2E7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386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E2A7E6-C173-4A82-9647-F769DCAB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171950"/>
            <a:ext cx="2714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한국형 PII는 주민번호뿐 아니라 주소, 계좌, secret까지 봐야 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485695-0630-425F-8A70-4D2588B5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9053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9FF5D5-20E9-4F10-8553-80789D2A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838700"/>
            <a:ext cx="2714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최종 산출물은 '완벽한 모델'이 아니라 검증 가능한 방어 체계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83579B-60DF-49F0-B1A1-C5DF8A14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962650"/>
            <a:ext cx="1032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FC5365-832B-425F-968D-B925EF10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048375"/>
            <a:ext cx="975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마무리 문장: 이번 결과는 '한국형 개인정보 필터를 실전 평가 기준으로 다듬는 방법'을 보여준 프로젝트입니다.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235A6F-6AF6-491E-8AA0-91F6024C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491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7A8491"/>
                </a:solidFill>
                <a:latin typeface="Malgun Gothic"/>
                <a:ea typeface="Malgun Gothic"/>
                <a:cs typeface="Malgun Gothic"/>
              </a:rPr>
              <a:t>K-Privacy Filter 최종 발표 | 11/12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8A82E6F-4CE3-474B-BB53-E8118397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515100"/>
            <a:ext cx="432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49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A8491"/>
                </a:solidFill>
                <a:latin typeface="Aptos"/>
                <a:ea typeface="Aptos"/>
                <a:cs typeface="Aptos"/>
              </a:rPr>
              <a:t>Evidence: repository, Colab runs, Drive artifacts, 2026-05-29</a:t>
            </a:r>
          </a:p>
        </p:txBody>
      </p:sp>
    </p:spTree>
    <p:extLst>
      <p:ext uri="{BB962C8B-B14F-4D97-AF65-F5344CB8AC3E}">
        <p14:creationId xmlns:p14="http://schemas.microsoft.com/office/powerpoint/2010/main" val="62975494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C3DE3B-3841-4294-BAE6-49F30613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75E194-6334-4C95-92CB-F52614E2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742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6202A"/>
                </a:solidFill>
                <a:latin typeface="Aptos Display"/>
                <a:ea typeface="Aptos Display"/>
                <a:cs typeface="Aptos Display"/>
              </a:rPr>
              <a:t>K-Privacy Filter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AA6A56-1ACA-4E58-A5B0-226EC621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781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한국형 개인정보를 더 안전하게 마스킹하기 위한 hybrid defense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EFE8CE-E37B-43A9-890E-A6C55255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962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결론: 최종 구현체는 OPF의 범용 탐지력, 한국형 Regex Safety Net, 문맥 오탐 억제를 결합한 데모 가능한 시스템입니다. Fine-tuning은 저장까지 성공했지만, 현재는 연구 트랙으로 분리했습니다.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50B738-158C-410A-BFF8-D938D26F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3048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C880CA-A4AB-406C-B939-D8AC282D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576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357A6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2357A6"/>
                </a:solidFill>
                <a:latin typeface="Aptos Display"/>
                <a:ea typeface="Aptos Display"/>
                <a:cs typeface="Aptos Display"/>
              </a:rPr>
              <a:t>0.6919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C9F453-0E64-47B2-9C7B-095A5E37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862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Eval300 F1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1A451B-868C-4EB8-9AA3-991DA570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95775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최종 KPF offline replay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0D3988-5C73-4A11-ADDE-E607856D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71850"/>
            <a:ext cx="3048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2A1461-0C0D-4B37-A3A8-BD9050F8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576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F7D4E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2F7D4E"/>
                </a:solidFill>
                <a:latin typeface="Aptos Display"/>
                <a:ea typeface="Aptos Display"/>
                <a:cs typeface="Aptos Display"/>
              </a:rPr>
              <a:t>0 FP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BBD133-173C-42C9-AC76-012F7F89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862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Hard-neg 100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F1802C-2ECF-451C-8086-9A1A21F0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95775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샘플 기준 오탐 제거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2BC8EC-2919-410B-965E-5E8C1315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71850"/>
            <a:ext cx="3048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B08F30-8AA2-47EB-9844-AC2FF722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576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58C86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58C86"/>
                </a:solidFill>
                <a:latin typeface="Aptos Display"/>
                <a:ea typeface="Aptos Display"/>
                <a:cs typeface="Aptos Display"/>
              </a:rPr>
              <a:t>0.9000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C0A2B1-54EB-4943-BC24-5592CBC1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862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Adversarial F1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4AA938-FADF-4C9D-8A6D-38EF9FA8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95775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5A6573"/>
                </a:solidFill>
                <a:latin typeface="Malgun Gothic"/>
                <a:ea typeface="Malgun Gothic"/>
                <a:cs typeface="Malgun Gothic"/>
              </a:rPr>
              <a:t>우회형 입력 10개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2C311A-DCC3-4B7E-8E0A-1632C194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DC"/>
          </a:solidFill>
          <a:ln xmlns:a="http://schemas.openxmlformats.org/drawingml/2006/main" w="9525">
            <a:solidFill>
              <a:srgbClr val="F7EE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2B75E8-E984-4F9F-AE98-4B979265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7685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Q&amp;A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051F7A-262A-4583-9662-2B4DCD65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578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202A"/>
                </a:solidFill>
                <a:latin typeface="Malgun Gothic"/>
                <a:ea typeface="Malgun Gothic"/>
                <a:cs typeface="Malgun Gothic"/>
              </a:rPr>
              <a:t>예상 질문 답변 방향: hard-negative 0은 샘플 기준, fine-tuning은 보류, 최종 시연은 hybrid KPF, 다음 과제는 실제 데이터와 자동 평가 게이트입니다.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DFAF06-3974-4F9F-BFCC-2F2B0DBC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491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7A8491"/>
                </a:solidFill>
                <a:latin typeface="Malgun Gothic"/>
                <a:ea typeface="Malgun Gothic"/>
                <a:cs typeface="Malgun Gothic"/>
              </a:rPr>
              <a:t>K-Privacy Filter 최종 발표 | 12/12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999084-B987-45FB-B0F8-B97E1264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515100"/>
            <a:ext cx="432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49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A8491"/>
                </a:solidFill>
                <a:latin typeface="Aptos"/>
                <a:ea typeface="Aptos"/>
                <a:cs typeface="Aptos"/>
              </a:rPr>
              <a:t>Evidence: repository, Colab runs, Drive artifacts, 2026-05-29</a:t>
            </a:r>
          </a:p>
        </p:txBody>
      </p:sp>
    </p:spTree>
    <p:extLst>
      <p:ext uri="{BB962C8B-B14F-4D97-AF65-F5344CB8AC3E}">
        <p14:creationId xmlns:p14="http://schemas.microsoft.com/office/powerpoint/2010/main" val="19224745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2026-05-28T16:10:24.9330000Z</dcterms:created>
  <dcterms:modified xsi:type="dcterms:W3CDTF">2026-05-28T16:10:24.9330000Z</dcterms:modified>
</coreProperties>
</file>